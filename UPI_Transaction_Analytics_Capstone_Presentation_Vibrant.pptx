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4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pPr>
            <a:r>
              <a:rPr lang="en-GB" sz="1300" b="1" i="0" u="none" strike="noStrike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Records Loaded per Table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01A33"/>
                    </a:solidFill>
                    <a:latin typeface="Cambria" panose="02040503050406030204" pitchFamily="18" charset="0"/>
                    <a:ea typeface="Cambria" panose="020405030504060302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Customer_Master</c:v>
                </c:pt>
                <c:pt idx="1">
                  <c:v>Device_Info</c:v>
                </c:pt>
                <c:pt idx="2">
                  <c:v>UPI_Account_Details</c:v>
                </c:pt>
                <c:pt idx="3">
                  <c:v>Merchant_Info</c:v>
                </c:pt>
                <c:pt idx="4">
                  <c:v>UPI_Transaction_History</c:v>
                </c:pt>
                <c:pt idx="5">
                  <c:v>Customer_Feedback_Surveys</c:v>
                </c:pt>
                <c:pt idx="6">
                  <c:v>Fraud_Alert_History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10000</c:v>
                </c:pt>
                <c:pt idx="1">
                  <c:v>12000</c:v>
                </c:pt>
                <c:pt idx="2">
                  <c:v>12000</c:v>
                </c:pt>
                <c:pt idx="3">
                  <c:v>500</c:v>
                </c:pt>
                <c:pt idx="4">
                  <c:v>100000</c:v>
                </c:pt>
                <c:pt idx="5">
                  <c:v>4000</c:v>
                </c:pt>
                <c:pt idx="6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3-40EE-8FBF-AD3B2567D2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39-46B2-A658-5EB7276CFE8E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39-46B2-A658-5EB7276CFE8E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39-46B2-A658-5EB7276CFE8E}"/>
              </c:ext>
            </c:extLst>
          </c:dPt>
          <c:dPt>
            <c:idx val="3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39-46B2-A658-5EB7276CFE8E}"/>
              </c:ext>
            </c:extLst>
          </c:dPt>
          <c:cat>
            <c:strRef>
              <c:f>Sheet1!$A$2:$A$5</c:f>
              <c:strCache>
                <c:ptCount val="4"/>
                <c:pt idx="0">
                  <c:v>Send (34.94%)</c:v>
                </c:pt>
                <c:pt idx="1">
                  <c:v>Receive (34.88%)</c:v>
                </c:pt>
                <c:pt idx="2">
                  <c:v>Merchant Payment (25.08%)</c:v>
                </c:pt>
                <c:pt idx="3">
                  <c:v>Bill Pay (5.1%)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34.94</c:v>
                </c:pt>
                <c:pt idx="1">
                  <c:v>34.880000000000003</c:v>
                </c:pt>
                <c:pt idx="2">
                  <c:v>25.08</c:v>
                </c:pt>
                <c:pt idx="3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939-46B2-A658-5EB7276CF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50">
              <a:solidFill>
                <a:srgbClr val="201A33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1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Unusual_Time</c:v>
                </c:pt>
                <c:pt idx="1">
                  <c:v>Frequent_Failure</c:v>
                </c:pt>
                <c:pt idx="2">
                  <c:v>Suspicious_Login</c:v>
                </c:pt>
                <c:pt idx="3">
                  <c:v>Unusual_Amount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507</c:v>
                </c:pt>
                <c:pt idx="1">
                  <c:v>501</c:v>
                </c:pt>
                <c:pt idx="2">
                  <c:v>498</c:v>
                </c:pt>
                <c:pt idx="3">
                  <c:v>494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9-489A-9747-FCE47CCA42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1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8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1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"/>
            <a:ext cx="2377440" cy="2377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3246120"/>
            <a:ext cx="1234440" cy="1234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52578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ANALYTICS WITH GENAI  ·  CAPSTONE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 Analytics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Business Intelligence Pipeline for a Digital Payments Platform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977640"/>
            <a:ext cx="1115568" cy="73152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Business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Understanding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29968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3977640"/>
            <a:ext cx="1115568" cy="73152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029968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28416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8416" y="3977640"/>
            <a:ext cx="1115568" cy="73152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328416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3977640"/>
            <a:ext cx="1115568" cy="73152"/>
          </a:xfrm>
          <a:prstGeom prst="round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SQL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Ingestion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25312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25312" y="3977640"/>
            <a:ext cx="1115568" cy="73152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925312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977640"/>
            <a:ext cx="1115568" cy="73152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22208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2208" y="3977640"/>
            <a:ext cx="1115568" cy="73152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820656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F6F4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0656" y="3977640"/>
            <a:ext cx="1115568" cy="73152"/>
          </a:xfrm>
          <a:prstGeom prst="round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9820656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Strategic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Insights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Prepared by  Aastha Maurya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Tools Used:  Excel  ·  MySQL  ·  Python (Pandas, SciPy, Statsmodels)  ·  Power BI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8465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ROADMAP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Nine-Steps </a:t>
            </a: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Analytics Pipeline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From raw UPI transaction data to boardroom-ready insight — each stage validated before the next began.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Business Understanding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Define KPIs, hypotheses &amp; analytical goals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33672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198424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56632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Validation (Excel)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56632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Foreign-key checks, cleaning, quality log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8704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198424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41664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Database Design (SQL DDL)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41664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Schema, keys &amp; constraints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Ingestion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7160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Load cleaned data into MySQL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33672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356616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56632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Python ↔ SQL Pipeline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56632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SQLAlchemy connection &amp; dataframe load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918704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356616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811987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6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741664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Cleaning, Transform &amp; EDA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41664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Derived KPIs &amp; exploratory analysis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148072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7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71600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Statistical Testing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7160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T-test, ANOVA, Chi-square, Correlation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33672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434840" y="5148072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2" name="Text 40"/>
          <p:cNvSpPr/>
          <p:nvPr/>
        </p:nvSpPr>
        <p:spPr>
          <a:xfrm>
            <a:off x="44348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8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56632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Power BI Dashboards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56632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Executive &amp; Fraud Analyst views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918704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6F4FC"/>
          </a:solidFill>
          <a:ln/>
        </p:spPr>
      </p:sp>
      <p:sp>
        <p:nvSpPr>
          <p:cNvPr id="46" name="Shape 44"/>
          <p:cNvSpPr/>
          <p:nvPr/>
        </p:nvSpPr>
        <p:spPr>
          <a:xfrm>
            <a:off x="8119872" y="51480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8119872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9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741664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Strategic Insights</a:t>
            </a:r>
            <a:endParaRPr lang="en-US" sz="13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741664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Findings &amp; business recommendations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84048"/>
            <a:ext cx="8585421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1 · BUSINESS UNDERSTANDING &amp; ANALYTICAL PLANNING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Framing the Business Problem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30952" cy="4846320"/>
          </a:xfrm>
          <a:prstGeom prst="roundRect">
            <a:avLst>
              <a:gd name="adj" fmla="val 1509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CORE BUSINESS CHALLENGES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84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risk across devices, merchants and regions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511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Failed / declined transactions eroding trust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181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Customer churn and inconsistent engagement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85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 activity and onboarding quality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4256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51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Regulatory &amp; compliance exposure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507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These pain points shaped every KPI and hypothesis that followed.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9320" y="1645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KPIs TRACKED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9320" y="20574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205740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Volume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69680" y="20574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05740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Failure Rate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89320" y="269748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6974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Detection Rate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69680" y="269748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26974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Customer Retention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89320" y="3337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3375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 Activity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69680" y="3337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6F4FC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33375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Device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89320" y="3977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WORKING HYPOTHESES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89320" y="43891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CE4EC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389120"/>
            <a:ext cx="57669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Rooted devices are associated with higher fraud rates.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89320" y="50749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CE4EC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5074920"/>
            <a:ext cx="57669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Metro / high-density regions show lower transaction failure rates.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89320" y="57607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CE4EC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5760720"/>
            <a:ext cx="57669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likelihood varies significantly by merchant category.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2 · DATA VALIDATION USING EXCEL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Cleaning the Data Before It Ever Touched SQL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6F4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7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tables cross-checked for referential integrity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CE4EC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9.69%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 Customer_Master rows flagged — invalid mobile number length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6F4FC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248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missing resolution timestamps in Fraud_Alert_History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6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8972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duplicate primary keys found across all tables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2962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VALIDATION CHECKS PERFORMED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3319272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5526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Foreign-key checks — Customer_ID, Merchant_ID, UPI_ID, Device_ID, Transaction_ID linked correctly across all 7 tables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3941064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7705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Conditional formatting to surface blank fields in amount, status, fraud_flag, risk_score, device_type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4562856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988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Categorical standardization — e.g. “succes” → “Success”, “Androd” → “Android”, Male/MALE/male → “Male”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518464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206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Consistent date formatting applied across all date/time columns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37960" y="2880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 QUALITY LOG (SAMPLE)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412180"/>
              </p:ext>
            </p:extLst>
          </p:nvPr>
        </p:nvGraphicFramePr>
        <p:xfrm>
          <a:off x="6537960" y="3246120"/>
          <a:ext cx="5120640" cy="2910840"/>
        </p:xfrm>
        <a:graphic>
          <a:graphicData uri="http://schemas.openxmlformats.org/drawingml/2006/table">
            <a:tbl>
              <a:tblPr/>
              <a:tblGrid>
                <a:gridCol w="1304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Issue Found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All Tables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Inconsistent header casing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Converted to Proper Case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Customer_Master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Mobile number ≠ 10 digits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Flagged for review (969 rows)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Review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Customer_Master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Gender: Male/MALE/male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Standardized to “Male”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Device_Info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Inconsistent Last_Active format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Standardized yyyy/mm/dd hh:mm:ss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Fraud_Alert_History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Resolution_Time blanks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Marked for review / imputation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01A33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Review</a:t>
                      </a:r>
                      <a:endParaRPr lang="en-US" sz="1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DATABASE DESIGN (SQL DDL)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Seven-Table Relational Schema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4360" y="1417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Device_Info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325880" y="5159876"/>
            <a:ext cx="9805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Central fact table UPI_Transaction_History references every dimension via foreign keys (Customer_ID, UPI_ID, Device_ID, Merchant_ID); Fraud_Alert_History in turn references Transaction_ID.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4360" y="5806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applied: PRIMARY KEY &amp; FOREIGN KEY on all linking columns · NOT NULL on mandatory fields · CHECK (Age ≥ 18, Risk_Score 0–1, Satisfaction_Score 1–5, Amount ≥ 0)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Shape 10"/>
          <p:cNvSpPr/>
          <p:nvPr/>
        </p:nvSpPr>
        <p:spPr>
          <a:xfrm>
            <a:off x="711092" y="1825881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  <p:txBody>
          <a:bodyPr/>
          <a:lstStyle/>
          <a:p>
            <a:pPr algn="ctr"/>
            <a:endParaRPr lang="en-GB" sz="1100" dirty="0" smtClean="0"/>
          </a:p>
          <a:p>
            <a:pPr algn="ctr">
              <a:lnSpc>
                <a:spcPct val="250000"/>
              </a:lnSpc>
            </a:pPr>
            <a:r>
              <a:rPr lang="en-GB" sz="1100" dirty="0" smtClean="0"/>
              <a:t>PK </a:t>
            </a:r>
            <a:r>
              <a:rPr lang="en-GB" sz="1100" dirty="0" err="1" smtClean="0"/>
              <a:t>Device_ID</a:t>
            </a:r>
            <a:endParaRPr lang="en-GB" sz="1100" dirty="0"/>
          </a:p>
        </p:txBody>
      </p:sp>
      <p:sp>
        <p:nvSpPr>
          <p:cNvPr id="52" name="Shape 11"/>
          <p:cNvSpPr/>
          <p:nvPr/>
        </p:nvSpPr>
        <p:spPr>
          <a:xfrm>
            <a:off x="711092" y="1825881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3A6EA5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Device_Info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3" name="Shape 25"/>
          <p:cNvSpPr/>
          <p:nvPr/>
        </p:nvSpPr>
        <p:spPr>
          <a:xfrm>
            <a:off x="5233266" y="2144477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pPr algn="ctr"/>
            <a:endParaRPr lang="en-GB" sz="1100" dirty="0" smtClean="0"/>
          </a:p>
          <a:p>
            <a:pPr algn="ctr">
              <a:lnSpc>
                <a:spcPct val="200000"/>
              </a:lnSpc>
            </a:pPr>
            <a:r>
              <a:rPr lang="en-GB" sz="1100" dirty="0" smtClean="0"/>
              <a:t>PK </a:t>
            </a:r>
            <a:r>
              <a:rPr lang="en-GB" sz="1100" dirty="0" err="1" smtClean="0"/>
              <a:t>Customer_ID</a:t>
            </a:r>
            <a:endParaRPr lang="en-GB" sz="1100" dirty="0"/>
          </a:p>
        </p:txBody>
      </p:sp>
      <p:sp>
        <p:nvSpPr>
          <p:cNvPr id="54" name="Shape 27"/>
          <p:cNvSpPr/>
          <p:nvPr/>
        </p:nvSpPr>
        <p:spPr>
          <a:xfrm>
            <a:off x="5233266" y="2144477"/>
            <a:ext cx="1737360" cy="29260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Customer_Master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5" name="Shape 15"/>
          <p:cNvSpPr/>
          <p:nvPr/>
        </p:nvSpPr>
        <p:spPr>
          <a:xfrm>
            <a:off x="9725648" y="2803025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  <p:txBody>
          <a:bodyPr/>
          <a:lstStyle/>
          <a:p>
            <a:pPr algn="ctr"/>
            <a:endParaRPr lang="en-GB" sz="1100" dirty="0" smtClean="0"/>
          </a:p>
          <a:p>
            <a:pPr algn="ctr">
              <a:lnSpc>
                <a:spcPct val="200000"/>
              </a:lnSpc>
            </a:pPr>
            <a:r>
              <a:rPr lang="en-GB" sz="1100" dirty="0" smtClean="0"/>
              <a:t>PK UPI_ID</a:t>
            </a:r>
            <a:endParaRPr lang="en-GB" sz="1100" dirty="0"/>
          </a:p>
        </p:txBody>
      </p:sp>
      <p:sp>
        <p:nvSpPr>
          <p:cNvPr id="56" name="Shape 17"/>
          <p:cNvSpPr/>
          <p:nvPr/>
        </p:nvSpPr>
        <p:spPr>
          <a:xfrm>
            <a:off x="9725648" y="2803025"/>
            <a:ext cx="1691640" cy="292608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UPI_Account_Details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7" name="Shape 15"/>
          <p:cNvSpPr/>
          <p:nvPr/>
        </p:nvSpPr>
        <p:spPr>
          <a:xfrm>
            <a:off x="9358414" y="1447333"/>
            <a:ext cx="205887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  <p:txBody>
          <a:bodyPr/>
          <a:lstStyle/>
          <a:p>
            <a:pPr algn="ctr"/>
            <a:endParaRPr lang="en-GB" sz="1100" dirty="0" smtClean="0"/>
          </a:p>
          <a:p>
            <a:pPr algn="ctr">
              <a:lnSpc>
                <a:spcPct val="200000"/>
              </a:lnSpc>
            </a:pPr>
            <a:r>
              <a:rPr lang="en-GB" sz="1100" dirty="0" smtClean="0"/>
              <a:t>PK </a:t>
            </a:r>
            <a:r>
              <a:rPr lang="en-GB" sz="1100" dirty="0" err="1" smtClean="0"/>
              <a:t>Feedback_ID</a:t>
            </a:r>
            <a:endParaRPr lang="en-GB" sz="1100" dirty="0"/>
          </a:p>
        </p:txBody>
      </p:sp>
      <p:sp>
        <p:nvSpPr>
          <p:cNvPr id="58" name="Shape 17"/>
          <p:cNvSpPr/>
          <p:nvPr/>
        </p:nvSpPr>
        <p:spPr>
          <a:xfrm>
            <a:off x="9358414" y="1447333"/>
            <a:ext cx="2058874" cy="292607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Customer_Feedback_Surveys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9" name="Shape 30"/>
          <p:cNvSpPr/>
          <p:nvPr/>
        </p:nvSpPr>
        <p:spPr>
          <a:xfrm>
            <a:off x="5027293" y="3461393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pPr algn="ctr"/>
            <a:endParaRPr lang="en-GB" sz="1100" dirty="0" smtClean="0"/>
          </a:p>
          <a:p>
            <a:pPr algn="ctr">
              <a:lnSpc>
                <a:spcPct val="200000"/>
              </a:lnSpc>
            </a:pPr>
            <a:r>
              <a:rPr lang="en-GB" sz="1100" dirty="0" smtClean="0"/>
              <a:t>PK </a:t>
            </a:r>
            <a:r>
              <a:rPr lang="en-GB" sz="1100" dirty="0" err="1" smtClean="0"/>
              <a:t>Transaction_ID</a:t>
            </a:r>
            <a:endParaRPr lang="en-GB" sz="1100" dirty="0"/>
          </a:p>
        </p:txBody>
      </p:sp>
      <p:sp>
        <p:nvSpPr>
          <p:cNvPr id="60" name="Shape 32"/>
          <p:cNvSpPr/>
          <p:nvPr/>
        </p:nvSpPr>
        <p:spPr>
          <a:xfrm>
            <a:off x="5027293" y="3470537"/>
            <a:ext cx="1920240" cy="2926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UPI_Transaction_History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61" name="Shape 35"/>
          <p:cNvSpPr/>
          <p:nvPr/>
        </p:nvSpPr>
        <p:spPr>
          <a:xfrm>
            <a:off x="711092" y="3827153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pPr algn="ctr"/>
            <a:endParaRPr lang="en-GB" sz="1100" dirty="0"/>
          </a:p>
          <a:p>
            <a:pPr algn="ctr"/>
            <a:endParaRPr lang="en-GB" sz="1100" dirty="0" smtClean="0"/>
          </a:p>
          <a:p>
            <a:pPr algn="ctr"/>
            <a:r>
              <a:rPr lang="en-GB" sz="1100" dirty="0" smtClean="0"/>
              <a:t>PK </a:t>
            </a:r>
            <a:r>
              <a:rPr lang="en-GB" sz="1100" dirty="0" err="1" smtClean="0"/>
              <a:t>Merchant_ID</a:t>
            </a:r>
            <a:endParaRPr lang="en-GB" sz="1100" dirty="0"/>
          </a:p>
        </p:txBody>
      </p:sp>
      <p:sp>
        <p:nvSpPr>
          <p:cNvPr id="62" name="Shape 37"/>
          <p:cNvSpPr/>
          <p:nvPr/>
        </p:nvSpPr>
        <p:spPr>
          <a:xfrm>
            <a:off x="711092" y="3827153"/>
            <a:ext cx="1737360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Merchant_Info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63" name="Shape 40"/>
          <p:cNvSpPr/>
          <p:nvPr/>
        </p:nvSpPr>
        <p:spPr>
          <a:xfrm>
            <a:off x="9358414" y="4083545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  <p:txBody>
          <a:bodyPr/>
          <a:lstStyle/>
          <a:p>
            <a:pPr algn="ctr"/>
            <a:endParaRPr lang="en-GB" sz="1100" dirty="0"/>
          </a:p>
          <a:p>
            <a:pPr algn="ctr">
              <a:lnSpc>
                <a:spcPct val="200000"/>
              </a:lnSpc>
            </a:pPr>
            <a:r>
              <a:rPr lang="en-GB" sz="1100" dirty="0" smtClean="0"/>
              <a:t>PK </a:t>
            </a:r>
            <a:r>
              <a:rPr lang="en-GB" sz="1100" dirty="0" err="1" smtClean="0"/>
              <a:t>Alert_ID</a:t>
            </a:r>
            <a:endParaRPr lang="en-GB" sz="1100" dirty="0"/>
          </a:p>
        </p:txBody>
      </p:sp>
      <p:sp>
        <p:nvSpPr>
          <p:cNvPr id="64" name="Shape 42"/>
          <p:cNvSpPr/>
          <p:nvPr/>
        </p:nvSpPr>
        <p:spPr>
          <a:xfrm rot="10800000" flipV="1">
            <a:off x="9358414" y="4083545"/>
            <a:ext cx="1920240" cy="292608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pPr algn="ctr"/>
            <a:r>
              <a:rPr lang="en-GB" sz="1200" b="1" dirty="0" err="1" smtClean="0">
                <a:solidFill>
                  <a:schemeClr val="bg1"/>
                </a:solidFill>
              </a:rPr>
              <a:t>Fraud_Alert_History</a:t>
            </a:r>
            <a:endParaRPr lang="en-GB" sz="1200" b="1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/>
          <p:cNvCxnSpPr>
            <a:stCxn id="54" idx="1"/>
            <a:endCxn id="51" idx="3"/>
          </p:cNvCxnSpPr>
          <p:nvPr/>
        </p:nvCxnSpPr>
        <p:spPr>
          <a:xfrm flipH="1" flipV="1">
            <a:off x="2402732" y="2155065"/>
            <a:ext cx="2830534" cy="1357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60" idx="0"/>
          </p:cNvCxnSpPr>
          <p:nvPr/>
        </p:nvCxnSpPr>
        <p:spPr>
          <a:xfrm>
            <a:off x="5987413" y="2821761"/>
            <a:ext cx="0" cy="6487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8" idx="1"/>
          </p:cNvCxnSpPr>
          <p:nvPr/>
        </p:nvCxnSpPr>
        <p:spPr>
          <a:xfrm flipV="1">
            <a:off x="6970626" y="1593637"/>
            <a:ext cx="2387788" cy="6726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endCxn id="64" idx="3"/>
          </p:cNvCxnSpPr>
          <p:nvPr/>
        </p:nvCxnSpPr>
        <p:spPr>
          <a:xfrm>
            <a:off x="6970626" y="4083545"/>
            <a:ext cx="2387788" cy="1463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5" idx="1"/>
          </p:cNvCxnSpPr>
          <p:nvPr/>
        </p:nvCxnSpPr>
        <p:spPr>
          <a:xfrm flipH="1">
            <a:off x="6970626" y="3132209"/>
            <a:ext cx="2755022" cy="6949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56" idx="1"/>
          </p:cNvCxnSpPr>
          <p:nvPr/>
        </p:nvCxnSpPr>
        <p:spPr>
          <a:xfrm>
            <a:off x="7015094" y="2694193"/>
            <a:ext cx="2710554" cy="2551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2471545" y="4082682"/>
            <a:ext cx="2555748" cy="1471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60" idx="1"/>
          </p:cNvCxnSpPr>
          <p:nvPr/>
        </p:nvCxnSpPr>
        <p:spPr>
          <a:xfrm>
            <a:off x="1556912" y="2505489"/>
            <a:ext cx="3470381" cy="11113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4 · DATA INGESTION INTO SQL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140,500 Records Loaded &amp; Verified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8930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Cleaned datasets were imported into MySQL Workbench (LOAD DATA INFILE) and validated with row-count, spot-check and foreign-key integrity queries.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10152853"/>
              </p:ext>
            </p:extLst>
          </p:nvPr>
        </p:nvGraphicFramePr>
        <p:xfrm>
          <a:off x="548640" y="187452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9202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POST-LOAD VALIDATION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0" y="23317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/>
        </p:spPr>
      </p:sp>
      <p:sp>
        <p:nvSpPr>
          <p:cNvPr id="8" name="Text 5"/>
          <p:cNvSpPr/>
          <p:nvPr/>
        </p:nvSpPr>
        <p:spPr>
          <a:xfrm>
            <a:off x="7479792" y="233172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Row counts in MySQL matched source CSV/Excel files exactly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0" y="3355848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/>
        </p:spPr>
      </p:sp>
      <p:sp>
        <p:nvSpPr>
          <p:cNvPr id="10" name="Text 7"/>
          <p:cNvSpPr/>
          <p:nvPr/>
        </p:nvSpPr>
        <p:spPr>
          <a:xfrm>
            <a:off x="7479792" y="33558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Random spot-checks joined transactions to customer &amp; bank details correctly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0" y="4379976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/>
        </p:spPr>
      </p:sp>
      <p:sp>
        <p:nvSpPr>
          <p:cNvPr id="12" name="Text 9"/>
          <p:cNvSpPr/>
          <p:nvPr/>
        </p:nvSpPr>
        <p:spPr>
          <a:xfrm>
            <a:off x="7479792" y="437997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Zero orphaned foreign keys across Device, UPI Account, Merchant &amp; Customer links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15200" y="5404104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6F4FC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540410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248 blank resolution_time values in Fraud_Alert_History corrected to proper TIMESTAMP type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6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541" y="39299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5 · CONNECTING PYTHON TO SQL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7541" y="859437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Building a Live Analysis Pipeline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095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0764" y="219456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54076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068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Install Libraries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811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pandas · sqlalchemy · pymysql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0263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3979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9604" y="219456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8960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4952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Create Engine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7695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SQLAlchemy connection string to MySQL (mysql+pymysql)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147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8863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8444" y="219456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83844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36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Query with Pandas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2579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pandas.read_sql_query() executes SQL directly into dataframes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0031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3747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7284" y="219456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8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4720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Load All 7 Tables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7463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Every table pulled into its own dataframe for analysis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4915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8631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6F4FC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36124" y="219456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612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9604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Validate Schema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52347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df.info() confirms dtypes &amp; row counts match SQL exactly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Result: MySQL connection successful — all seven tables loaded with row counts and schema verified to match the source database exactly.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7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6 · DATA CLEANING, TRANSFORMATION &amp; DERIVED KPIS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Turning Raw Fields Into Analysis-Ready Metrics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MISSING VALUE TREATMENT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922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Merchant_ID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Filled with “P2P_No_Merchant” (peer-to-peer transfer, not a merchant payment)</a:t>
            </a:r>
            <a:endParaRPr lang="en-US" sz="98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511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Failure_Reason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2816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Filled with “None_successful” for completed transactions</a:t>
            </a:r>
            <a:endParaRPr lang="en-US" sz="98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101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Other numeric fields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35753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Filled with column median</a:t>
            </a:r>
            <a:endParaRPr lang="en-US" sz="98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SCALING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4425696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Risk_Score → Min-Max Normalized  ·  Amount → Z-score Standardized (outlier-prone, unbounded)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240" y="13716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DERIVED KPIs CREATED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1737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8105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Value / Customer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21214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Total Amount ÷ Number of Transactions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262432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697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 Fraud Ratio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0" y="30083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Transactions ÷ Total Transactions by Merchant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0" y="351129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5844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F7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Device Fraud Ratio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75120" y="38953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Transactions ÷ Total Transactions by Device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92240" y="43982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CE4EC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4714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Failure Rate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4782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Failed Transactions ÷ Total Transactions  =  5.87%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6 · EXPLORATORY DATA ANALYSIS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What the Transaction Data Reveals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160520"/>
          </a:xfrm>
          <a:prstGeom prst="roundRect">
            <a:avLst>
              <a:gd name="adj" fmla="val 1319"/>
            </a:avLst>
          </a:prstGeom>
          <a:solidFill>
            <a:srgbClr val="F6F4FC"/>
          </a:solidFill>
          <a:ln/>
        </p:spPr>
      </p:sp>
      <p:pic>
        <p:nvPicPr>
          <p:cNvPr id="5" name="Image 0" descr="/home/claude/assets/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6192"/>
            <a:ext cx="621792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43484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transaction volume climbed sharply through mid-2025 while fraud volume stayed comparatively flat — fraud is growing slower than legitimate usage.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269480" y="1417320"/>
            <a:ext cx="4343400" cy="4160520"/>
          </a:xfrm>
          <a:prstGeom prst="roundRect">
            <a:avLst>
              <a:gd name="adj" fmla="val 1319"/>
            </a:avLst>
          </a:prstGeom>
          <a:solidFill>
            <a:srgbClr val="F6F4FC"/>
          </a:solidFill>
          <a:ln/>
        </p:spPr>
      </p:sp>
      <p:pic>
        <p:nvPicPr>
          <p:cNvPr id="8" name="Image 1" descr="/home/claude/assets/fraud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536192"/>
            <a:ext cx="41605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48006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West + Electronics is the riskiest cell (3.01% fraud rate) — nearly 2× the platform average.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ADDITIONAL INSIGHT · TRANSACTION BEHAVIOR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Transaction Behavior at a Glance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closer look at how customers actually use the platform, drawn from the live Executive Dashboard.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20440" cy="905256"/>
          </a:xfrm>
          <a:prstGeom prst="roundRect">
            <a:avLst>
              <a:gd name="adj" fmla="val 6667"/>
            </a:avLst>
          </a:prstGeom>
          <a:solidFill>
            <a:srgbClr val="F6F4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870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100K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112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Total Transactions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0" y="1633794"/>
            <a:ext cx="3520440" cy="905256"/>
          </a:xfrm>
          <a:prstGeom prst="roundRect">
            <a:avLst>
              <a:gd name="adj" fmla="val 6667"/>
            </a:avLst>
          </a:prstGeom>
          <a:solidFill>
            <a:srgbClr val="F6F4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6870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₹42.42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16552" y="2112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Avg. Transaction Amount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1627632"/>
            <a:ext cx="3520440" cy="905256"/>
          </a:xfrm>
          <a:prstGeom prst="roundRect">
            <a:avLst>
              <a:gd name="adj" fmla="val 6667"/>
            </a:avLst>
          </a:prstGeom>
          <a:solidFill>
            <a:srgbClr val="F6F4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870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Feature_Phone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19872" y="2112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Device Used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740417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VOLUME BY TYPE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306445173"/>
              </p:ext>
            </p:extLst>
          </p:nvPr>
        </p:nvGraphicFramePr>
        <p:xfrm>
          <a:off x="457200" y="3060457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6172200" y="2740417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THIS TELLS US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72200" y="30632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6F4FC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3008376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Peer-to-peer activity (Send + Receive) makes up almost 70% of all volume — the platform is still used mainly for personal transfers, not shopping.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172200" y="4020577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6F4FC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4008650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 Payments are a meaningful quarter of volume (25.08%) — this is the segment most exposed to the Electronics/Apparel fraud risk seen earlier.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72200" y="4987257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6F4FC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5062198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Bill Pay is the smallest category (5.1%) but tends to be recurring and predictable — a good candidate for lighter-touch fraud checks.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172200" y="5949961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6F4FC"/>
          </a:solidFill>
          <a:ln/>
        </p:spPr>
      </p:sp>
      <p:sp>
        <p:nvSpPr>
          <p:cNvPr id="24" name="Text 21"/>
          <p:cNvSpPr/>
          <p:nvPr/>
        </p:nvSpPr>
        <p:spPr>
          <a:xfrm>
            <a:off x="6355080" y="5949961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Feature_Phone being the top device by usage (not just by fraud rate) means the earlier fraud recommendation for this segment protects a large share of real users, not a small edge case.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459817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10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48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ADDITIONAL INSIGHT · FRAUD RESOLUTION PERFORMANCE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How Well the Fraud Team Keeps Up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Operational performance behind the fraud numbers, drawn from the live Fraud &amp; Operations Dashboard.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78608" cy="914400"/>
          </a:xfrm>
          <a:prstGeom prst="roundRect">
            <a:avLst>
              <a:gd name="adj" fmla="val 7000"/>
            </a:avLst>
          </a:prstGeom>
          <a:solidFill>
            <a:srgbClr val="F6F4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105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2,000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Total Fraud Alerts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2578608" cy="914400"/>
          </a:xfrm>
          <a:prstGeom prst="roundRect">
            <a:avLst>
              <a:gd name="adj" fmla="val 7000"/>
            </a:avLst>
          </a:prstGeom>
          <a:solidFill>
            <a:srgbClr val="F6F4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8105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248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0712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Still Open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98464" y="1737360"/>
            <a:ext cx="2578608" cy="914400"/>
          </a:xfrm>
          <a:prstGeom prst="roundRect">
            <a:avLst>
              <a:gd name="adj" fmla="val 7000"/>
            </a:avLst>
          </a:prstGeom>
          <a:solidFill>
            <a:srgbClr val="F6F4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8105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87.60%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35624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Alerts Resolved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723376" y="1737360"/>
            <a:ext cx="2578608" cy="914400"/>
          </a:xfrm>
          <a:prstGeom prst="roundRect">
            <a:avLst>
              <a:gd name="adj" fmla="val 7000"/>
            </a:avLst>
          </a:prstGeom>
          <a:solidFill>
            <a:srgbClr val="F6F4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536" y="18105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45.64K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0536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Avg. Resolution Time (sec)</a:t>
            </a:r>
            <a:endParaRPr lang="en-US" sz="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ALERTS BY ROOT CAUSE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660818101"/>
              </p:ext>
            </p:extLst>
          </p:nvPr>
        </p:nvGraphicFramePr>
        <p:xfrm>
          <a:off x="365760" y="324612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492240" y="2926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THIS TELLS US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492240" y="329184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6F4FC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32918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Root causes are almost evenly split (494–507 alerts each) — no single alert type dominates, which matches our earlier statistical finding that fraud has no one clear driver.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492240" y="4462272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6F4FC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446227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87.60% of alerts are resolved, leaving 248 (12.4%) still open — a manageable backlog, but worth tracking so it doesn't grow as transaction volume scales.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492240" y="5632704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6F4FC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563270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 average resolution time of ~45.64K seconds (about 12–13 hours) suggests most alerts are handled within a working day, though faster triage on Suspicious_Login cases could reduce exposure window.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11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7 · STATISTICAL ANALYSIS IN PYTHON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Testing the Hypotheses Against Real Data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90576"/>
              </p:ext>
            </p:extLst>
          </p:nvPr>
        </p:nvGraphicFramePr>
        <p:xfrm>
          <a:off x="548640" y="1417320"/>
          <a:ext cx="1106424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Asked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avg. amount differ between fraud &amp; non-fraud transactions?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0.0841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avg. amount differ across merchant types?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0.9392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fraud associated with device type?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5.6743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risk score relate to fraud occurrence?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-0.0016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significant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Interpretation: none of the four tests found a statistically significant relationship at the whole-dataset level — fraud risk in this data is better explained by combinations of factors (region × merchant × device) than any single variable alone, reinforcing the case for multivariate monitoring rather than single-field rules.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ASSUMPTIONS &amp; LIMITATIONS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489204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Welch's t-test used — equal variance between groups was not assumed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489204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10" name="Text 7"/>
          <p:cNvSpPr/>
          <p:nvPr/>
        </p:nvSpPr>
        <p:spPr>
          <a:xfrm>
            <a:off x="6291072" y="489204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 Bonferroni / FDR correction applied across the four tests, raising false-positive risk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566928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Fraud cases are rare relative to normal transactions (class imbalance) — this reduces statistical power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10"/>
          <p:cNvSpPr/>
          <p:nvPr/>
        </p:nvSpPr>
        <p:spPr>
          <a:xfrm>
            <a:off x="6126480" y="5669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6F4FC"/>
          </a:solidFill>
          <a:ln/>
        </p:spPr>
      </p:sp>
      <p:sp>
        <p:nvSpPr>
          <p:cNvPr id="14" name="Text 11"/>
          <p:cNvSpPr/>
          <p:nvPr/>
        </p:nvSpPr>
        <p:spPr>
          <a:xfrm>
            <a:off x="6291072" y="566928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Correlation reflects association only, not causation, and results are specific to this dataset's time window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7410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8 · POWER BI DASHBOARD SUITE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8442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Executive Dashboard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Live view — connected to the full 7-table data model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80322" y="1508760"/>
            <a:ext cx="8806069" cy="498348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13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322" y="1508760"/>
            <a:ext cx="8806069" cy="4983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8 · POWER BI DASHBOARD </a:t>
            </a:r>
            <a:r>
              <a:rPr lang="en-US" b="1" kern="0" spc="200" dirty="0" smtClean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SUITE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/ Fraud Analyst Dashboard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fraud alert trends, root causes, and high-risk device / merchant views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00199" y="1508759"/>
            <a:ext cx="8766313" cy="4983481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59"/>
            <a:ext cx="8766312" cy="4983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770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8 · POWER BI DASHBOARD </a:t>
            </a:r>
            <a:r>
              <a:rPr lang="en-US" b="1" kern="0" spc="200" dirty="0" smtClean="0">
                <a:solidFill>
                  <a:srgbClr val="D9770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SUITE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Details — Drill-through Record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0125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fraud alert investigation — customer, merchant, transaction &amp; resolution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69773" y="1600200"/>
            <a:ext cx="8537713" cy="4892040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73" y="1570383"/>
            <a:ext cx="8537713" cy="4921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C3AE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9 · STRATEGIC INSIGHTS &amp; RECOMMENDATIONS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From Data to Decisions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212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891B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DATA-DRIVEN INSIGHTS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01952"/>
            <a:ext cx="438912" cy="438912"/>
          </a:xfrm>
          <a:prstGeom prst="ellipse">
            <a:avLst/>
          </a:prstGeom>
          <a:solidFill>
            <a:srgbClr val="3B0F7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1248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West region × Electronics merchants is the single riskiest segment — 3.01% fraud rate, ~2× the platform average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98064"/>
            <a:ext cx="438912" cy="438912"/>
          </a:xfrm>
          <a:prstGeom prst="ellipse">
            <a:avLst/>
          </a:prstGeom>
          <a:solidFill>
            <a:srgbClr val="3B0F7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1248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Overall transaction failure rate sits at 5.87%, a direct lever for customer trust and retention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694176"/>
            <a:ext cx="438912" cy="438912"/>
          </a:xfrm>
          <a:prstGeom prst="ellipse">
            <a:avLst/>
          </a:prstGeom>
          <a:solidFill>
            <a:srgbClr val="3B0F7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1248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 volume is scaling rapidly (18× growth from baseline months) while fraud volume grows far more slowly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590288"/>
            <a:ext cx="438912" cy="438912"/>
          </a:xfrm>
          <a:prstGeom prst="ellipse">
            <a:avLst/>
          </a:prstGeom>
          <a:solidFill>
            <a:srgbClr val="3B0F7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590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1248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44256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None of the four statistical tests found a single dominant fraud driver — risk is multivariate, not rule-based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321808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6F4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5486400"/>
            <a:ext cx="438912" cy="438912"/>
          </a:xfrm>
          <a:prstGeom prst="ellipse">
            <a:avLst/>
          </a:prstGeom>
          <a:solidFill>
            <a:srgbClr val="3B0F7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86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r>
            <a:endParaRPr lang="en-US" sz="1248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80160" y="53218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9.69% of customer records carry invalid mobile numbers — a data-quality gap with compliance implications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1371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STRATEGIC RECOMMENDATIONS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46520" y="1737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CE4EC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Targeted device security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940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Add step-up authentication / rooted-device checks in West + Electronics to cut the highest-risk segment's exposure.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CE4EC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2186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Merchant onboarding review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9400" y="3566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Re-screen high fraud-ratio merchants; tighten risk-scoring at onboarding to reduce future fraud inflow.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46520" y="44805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CE4EC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Customer education &amp; data hygiene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1A3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Fix the 9.69% invalid mobile-number records and run a failure-reason education push to lift the 5.87% failure rate.</a:t>
            </a:r>
            <a:endParaRPr lang="en-US" sz="103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16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212080"/>
            <a:ext cx="1737360" cy="1737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-1188720"/>
            <a:ext cx="2926080" cy="2926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280160"/>
            <a:ext cx="914400" cy="9144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0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a full-stack view from raw data to boardroom insight.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6F4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Validation &amp; quality log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56432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6F4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3592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Schema &amp; ingestion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35624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6F4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EDA &amp; statistical testing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14816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6F4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51976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1976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Executive dashboards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Maurya  ·  Data Analytics with GenAI — Capstone 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1742</Words>
  <Application>Microsoft Office PowerPoint</Application>
  <PresentationFormat>Widescreen</PresentationFormat>
  <Paragraphs>331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Aastha Maurya</cp:lastModifiedBy>
  <cp:revision>12</cp:revision>
  <dcterms:created xsi:type="dcterms:W3CDTF">2026-09-13T08:31:48Z</dcterms:created>
  <dcterms:modified xsi:type="dcterms:W3CDTF">2026-09-14T15:15:56Z</dcterms:modified>
</cp:coreProperties>
</file>