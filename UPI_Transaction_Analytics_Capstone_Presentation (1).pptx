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33A"/>
                </a:solidFill>
                <a:latin typeface="Calibri"/>
              </a:rPr>
              <a:t>Records Loaded per Table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 Count</c:v>
                </c:pt>
              </c:strCache>
            </c:strRef>
          </c:tx>
          <c:spPr>
            <a:solidFill>
              <a:srgbClr val="3A6E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62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Customer_Master</c:v>
                  </c:pt>
                  <c:pt idx="1">
                    <c:v>Device_Info</c:v>
                  </c:pt>
                  <c:pt idx="2">
                    <c:v>UPI_Account_Details</c:v>
                  </c:pt>
                  <c:pt idx="3">
                    <c:v>Merchant_Info</c:v>
                  </c:pt>
                  <c:pt idx="4">
                    <c:v>UPI_Transaction_History</c:v>
                  </c:pt>
                  <c:pt idx="5">
                    <c:v>Customer_Feedback_Surveys</c:v>
                  </c:pt>
                  <c:pt idx="6">
                    <c:v>Fraud_Alert_History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10000</c:v>
                </c:pt>
                <c:pt idx="1">
                  <c:v>12000</c:v>
                </c:pt>
                <c:pt idx="2">
                  <c:v>12000</c:v>
                </c:pt>
                <c:pt idx="3">
                  <c:v>500</c:v>
                </c:pt>
                <c:pt idx="4">
                  <c:v>100000</c:v>
                </c:pt>
                <c:pt idx="5">
                  <c:v>4000</c:v>
                </c:pt>
                <c:pt idx="6">
                  <c:v>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62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623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023360" cy="40233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-1097280"/>
            <a:ext cx="2926080" cy="292608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WITH GENAI  ·  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Transaction Analytics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Business Intelligence Pipeline for a Digital Payments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29968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28416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25312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25312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23760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22208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22208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820656" y="3977640"/>
            <a:ext cx="1115568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0656" y="3977640"/>
            <a:ext cx="111556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Aastha Maurya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Excel  ·  MySQL  ·  Python (Pandas, SciPy, Statsmodels)  ·  Power BI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Nine-Step Analytics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UPI transaction data to boardroom-ready insight — each stage validated before the next began.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842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71600" y="2441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KPIs, hypotheses &amp; analytical goals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19842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56632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(Excel)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56632" y="2441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checks, cleaning, quality log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18704" y="1783080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19872" y="1984248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17" name="Text 15"/>
          <p:cNvSpPr/>
          <p:nvPr/>
        </p:nvSpPr>
        <p:spPr>
          <a:xfrm>
            <a:off x="8119872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41664" y="19476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(SQL DDL)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741664" y="244144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keys &amp; constraints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6499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3566160"/>
            <a:ext cx="502920" cy="502920"/>
          </a:xfrm>
          <a:prstGeom prst="ellipse">
            <a:avLst/>
          </a:prstGeom>
          <a:solidFill>
            <a:srgbClr val="3A6EA5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5295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371600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cleaned data into MySQL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33672" y="336499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434840" y="356616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27" name="Text 25"/>
          <p:cNvSpPr/>
          <p:nvPr/>
        </p:nvSpPr>
        <p:spPr>
          <a:xfrm>
            <a:off x="44348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56632" y="35295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↔ SQL Pipeline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056632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connection &amp; dataframe load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918704" y="3364992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3566160"/>
            <a:ext cx="502920" cy="50292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2" name="Text 30"/>
          <p:cNvSpPr/>
          <p:nvPr/>
        </p:nvSpPr>
        <p:spPr>
          <a:xfrm>
            <a:off x="8119872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41664" y="352958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Transform &amp; EDA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741664" y="4023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KPIs &amp; exploratory analysis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494690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" y="514807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71600" y="5111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Testing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371600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ANOVA, Chi-square, Correlation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33672" y="494690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41" name="Shape 39"/>
          <p:cNvSpPr/>
          <p:nvPr/>
        </p:nvSpPr>
        <p:spPr>
          <a:xfrm>
            <a:off x="4434840" y="5148072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42" name="Text 40"/>
          <p:cNvSpPr/>
          <p:nvPr/>
        </p:nvSpPr>
        <p:spPr>
          <a:xfrm>
            <a:off x="4434840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056632" y="5111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056632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Fraud Analyst views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918704" y="4946904"/>
            <a:ext cx="3520440" cy="1417320"/>
          </a:xfrm>
          <a:prstGeom prst="roundRect">
            <a:avLst>
              <a:gd name="adj" fmla="val 4516"/>
            </a:avLst>
          </a:prstGeom>
          <a:solidFill>
            <a:srgbClr val="F3F6FA"/>
          </a:solidFill>
          <a:ln/>
        </p:spPr>
      </p:sp>
      <p:sp>
        <p:nvSpPr>
          <p:cNvPr id="46" name="Shape 44"/>
          <p:cNvSpPr/>
          <p:nvPr/>
        </p:nvSpPr>
        <p:spPr>
          <a:xfrm>
            <a:off x="8119872" y="5148072"/>
            <a:ext cx="502920" cy="502920"/>
          </a:xfrm>
          <a:prstGeom prst="ellipse">
            <a:avLst/>
          </a:prstGeom>
          <a:solidFill>
            <a:srgbClr val="E9A23B"/>
          </a:solidFill>
          <a:ln/>
        </p:spPr>
      </p:sp>
      <p:sp>
        <p:nvSpPr>
          <p:cNvPr id="47" name="Text 45"/>
          <p:cNvSpPr/>
          <p:nvPr/>
        </p:nvSpPr>
        <p:spPr>
          <a:xfrm>
            <a:off x="8119872" y="5148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8741664" y="51114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8741664" y="560527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business recommendations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BUSINESS UNDERSTANDING &amp; ANALYTICAL PLANNING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Framing the Business 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BUSINESS CHALLENGES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15798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8424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risk across devices, merchants and regions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72491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5117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/ declined transactions eroding trust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29184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181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and inconsistent engagement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85876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6850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activity and onboarding quality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442569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51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 exposure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0749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pain points shaped every KPI and hypothesis that followed.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16459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 TRACKED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89320" y="20574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3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205740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205740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3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79408" y="205740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Failure Rate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89320" y="269748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3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269748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Rate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69680" y="269748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3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79408" y="269748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333756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3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99048" y="33375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Activity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869680" y="3337560"/>
            <a:ext cx="2697480" cy="502920"/>
          </a:xfrm>
          <a:prstGeom prst="roundRect">
            <a:avLst>
              <a:gd name="adj" fmla="val 10909"/>
            </a:avLst>
          </a:prstGeom>
          <a:solidFill>
            <a:srgbClr val="F3F6FA"/>
          </a:solidFill>
          <a:ln w="9525">
            <a:solidFill>
              <a:srgbClr val="DCE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9408" y="3337560"/>
            <a:ext cx="2478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Risk Score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89320" y="39776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HYPOTHESES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89320" y="4389120"/>
            <a:ext cx="5623560" cy="566928"/>
          </a:xfrm>
          <a:prstGeom prst="roundRect">
            <a:avLst>
              <a:gd name="adj" fmla="val 9677"/>
            </a:avLst>
          </a:prstGeom>
          <a:solidFill>
            <a:srgbClr val="FDF1F1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438912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devices are associated with higher fraud rates.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89320" y="5074920"/>
            <a:ext cx="5623560" cy="566928"/>
          </a:xfrm>
          <a:prstGeom prst="roundRect">
            <a:avLst>
              <a:gd name="adj" fmla="val 9677"/>
            </a:avLst>
          </a:prstGeom>
          <a:solidFill>
            <a:srgbClr val="FDF1F1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507492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 / high-density regions show lower transaction failure rates.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989320" y="5760720"/>
            <a:ext cx="5623560" cy="566928"/>
          </a:xfrm>
          <a:prstGeom prst="roundRect">
            <a:avLst>
              <a:gd name="adj" fmla="val 9677"/>
            </a:avLst>
          </a:prstGeom>
          <a:solidFill>
            <a:srgbClr val="FDF1F1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576072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likelihood varies significantly by merchant category.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DATA VALIDATION USING EXCEL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the Data Before It Ever Touched SQL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3F6F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cross-checked for referential integrity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DF1F1"/>
          </a:solidFill>
          <a:ln/>
        </p:spPr>
      </p:sp>
      <p:sp>
        <p:nvSpPr>
          <p:cNvPr id="8" name="Text 6"/>
          <p:cNvSpPr/>
          <p:nvPr/>
        </p:nvSpPr>
        <p:spPr>
          <a:xfrm>
            <a:off x="3520440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9.69%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Customer_Master rows flagged — invalid mobile number length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3F6FA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resolution timestamps in Fraud_Alert_History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0" y="1417320"/>
            <a:ext cx="2697480" cy="1188720"/>
          </a:xfrm>
          <a:prstGeom prst="roundRect">
            <a:avLst>
              <a:gd name="adj" fmla="val 5385"/>
            </a:avLst>
          </a:prstGeom>
          <a:solidFill>
            <a:srgbClr val="F3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9189720" y="14813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89720" y="2011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primary keys found across all tables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CHECKS PERFORMED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319272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7296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checks — Customer_ID, Merchant_ID, UPI_ID, Device_ID, Transaction_ID linked correctly across all 7 tables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94360" y="39410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79476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formatting to surface blank fields in amount, status, fraud_flag, risk_score, device_type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94360" y="45628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16552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standardization — e.g. “succes” → “Success”, “Androd” → “Android”, Male/MALE/male → “Male”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594360" y="51846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038344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date formatting applied across all date/time columns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6537960" y="28803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LOG (SAMPLE)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3246120"/>
          <a:ext cx="5120640" cy="2834640"/>
        </p:xfrm>
        <a:graphic>
          <a:graphicData uri="http://schemas.openxmlformats.org/drawingml/2006/table">
            <a:tbl>
              <a:tblPr/>
              <a:tblGrid>
                <a:gridCol w="1234440"/>
                <a:gridCol w="1691640"/>
                <a:gridCol w="1463040"/>
                <a:gridCol w="73152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Tables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header casing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to Proper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Customer_Master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number ≠ 10 digits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for review (969 rows)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Customer_Master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Gender: Male/MALE/male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to “Male”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Device_Info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Last_Active format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yyyy/mm/dd hh:mm:ss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Fraud_Alert_History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Resolution_Time blanks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Marked for review / imputation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DATABASE DESIGN (SQL DDL)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Seven-Table Relational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1746504"/>
            <a:ext cx="1234440" cy="859536"/>
          </a:xfrm>
          <a:prstGeom prst="line">
            <a:avLst/>
          </a:prstGeom>
          <a:noFill/>
          <a:ln w="15875">
            <a:solidFill>
              <a:srgbClr val="AAB8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2286000" y="2743200"/>
            <a:ext cx="1234440" cy="832104"/>
          </a:xfrm>
          <a:prstGeom prst="line">
            <a:avLst/>
          </a:prstGeom>
          <a:noFill/>
          <a:ln w="15875">
            <a:solidFill>
              <a:srgbClr val="AAB8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286000" y="2834640"/>
            <a:ext cx="1234440" cy="1655064"/>
          </a:xfrm>
          <a:prstGeom prst="line">
            <a:avLst/>
          </a:prstGeom>
          <a:noFill/>
          <a:ln w="15875">
            <a:solidFill>
              <a:srgbClr val="AAB8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2990088"/>
            <a:ext cx="1005840" cy="758952"/>
          </a:xfrm>
          <a:prstGeom prst="line">
            <a:avLst/>
          </a:prstGeom>
          <a:noFill/>
          <a:ln w="15875">
            <a:solidFill>
              <a:srgbClr val="AAB8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429000"/>
            <a:ext cx="3108960" cy="365760"/>
          </a:xfrm>
          <a:prstGeom prst="line">
            <a:avLst/>
          </a:prstGeom>
          <a:noFill/>
          <a:ln w="15875">
            <a:solidFill>
              <a:srgbClr val="AAB8C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1691640"/>
            <a:ext cx="3749040" cy="1874520"/>
          </a:xfrm>
          <a:prstGeom prst="line">
            <a:avLst/>
          </a:prstGeom>
          <a:noFill/>
          <a:ln w="15875">
            <a:solidFill>
              <a:srgbClr val="AAB8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315200" y="2697480"/>
            <a:ext cx="914400" cy="1234440"/>
          </a:xfrm>
          <a:prstGeom prst="line">
            <a:avLst/>
          </a:prstGeom>
          <a:noFill/>
          <a:ln w="15875">
            <a:solidFill>
              <a:srgbClr val="AAB8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3886200"/>
            <a:ext cx="914400" cy="868680"/>
          </a:xfrm>
          <a:prstGeom prst="line">
            <a:avLst/>
          </a:prstGeom>
          <a:noFill/>
          <a:ln w="15875">
            <a:solidFill>
              <a:srgbClr val="AAB8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41732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3A6E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41732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3A6EA5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563624"/>
            <a:ext cx="1691640" cy="146304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417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Device_Info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" y="17830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Device_ID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324612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3A6EA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24612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3A6EA5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3392424"/>
            <a:ext cx="1691640" cy="146304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2461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UPI_Account_Details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" y="36118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UPI_ID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4360" y="4160520"/>
            <a:ext cx="1691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3A6E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4160520"/>
            <a:ext cx="1691640" cy="292608"/>
          </a:xfrm>
          <a:prstGeom prst="roundRect">
            <a:avLst>
              <a:gd name="adj" fmla="val 18750"/>
            </a:avLst>
          </a:prstGeom>
          <a:solidFill>
            <a:srgbClr val="3A6EA5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4306824"/>
            <a:ext cx="1691640" cy="146304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1605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Customer_Feedback_Surveys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" y="4526280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Feedback_ID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520440" y="233172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B2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0440" y="233172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B2545"/>
          </a:solidFill>
          <a:ln/>
        </p:spPr>
      </p:sp>
      <p:sp>
        <p:nvSpPr>
          <p:cNvPr id="29" name="Shape 27"/>
          <p:cNvSpPr/>
          <p:nvPr/>
        </p:nvSpPr>
        <p:spPr>
          <a:xfrm>
            <a:off x="3520440" y="2478024"/>
            <a:ext cx="1737360" cy="146304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0" name="Text 28"/>
          <p:cNvSpPr/>
          <p:nvPr/>
        </p:nvSpPr>
        <p:spPr>
          <a:xfrm>
            <a:off x="352044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Customer_Master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93592" y="269748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Customer_ID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94960" y="35661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94960" y="356616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E63946"/>
          </a:solidFill>
          <a:ln/>
        </p:spPr>
      </p:sp>
      <p:sp>
        <p:nvSpPr>
          <p:cNvPr id="34" name="Shape 32"/>
          <p:cNvSpPr/>
          <p:nvPr/>
        </p:nvSpPr>
        <p:spPr>
          <a:xfrm>
            <a:off x="5394960" y="3712464"/>
            <a:ext cx="1920240" cy="14630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5" name="Text 33"/>
          <p:cNvSpPr/>
          <p:nvPr/>
        </p:nvSpPr>
        <p:spPr>
          <a:xfrm>
            <a:off x="5394960" y="3566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UPI_Transaction_History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68112" y="39319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Transaction_ID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229600" y="233172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0" y="2331720"/>
            <a:ext cx="1737360" cy="292608"/>
          </a:xfrm>
          <a:prstGeom prst="roundRect">
            <a:avLst>
              <a:gd name="adj" fmla="val 18750"/>
            </a:avLst>
          </a:prstGeom>
          <a:solidFill>
            <a:srgbClr val="00A896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2478024"/>
            <a:ext cx="1737360" cy="14630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Merchant_Info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02752" y="2697480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Merchant_ID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229600" y="44805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448056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E9A23B"/>
          </a:solidFill>
          <a:ln/>
        </p:spPr>
      </p:sp>
      <p:sp>
        <p:nvSpPr>
          <p:cNvPr id="44" name="Shape 42"/>
          <p:cNvSpPr/>
          <p:nvPr/>
        </p:nvSpPr>
        <p:spPr>
          <a:xfrm>
            <a:off x="8229600" y="4626864"/>
            <a:ext cx="1920240" cy="146304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44805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Fraud_Alert_History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02752" y="4846320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Alert_Id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4360" y="53492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fact table UPI_Transaction_History references every dimension via foreign keys (Customer_ID, UPI_ID, Device_ID, Merchant_ID); Fraud_Alert_History in turn references Transaction_ID.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94360" y="580644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applied: PRIMARY KEY &amp; FOREIGN KEY on all linking columns · NOT NULL on mandatory fields · CHECK (Age ≥ 18, Risk_Score 0–1, Satisfaction_Score 1–5, Amount ≥ 0)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DATA INGESTION INTO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140,500 Records Loaded &amp; Verified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datasets were imported into MySQL Workbench (LOAD DATA INFILE) and validated with row-count, spot-check and foreign-key integrity queries.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9202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POST-LOAD VALIDATION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0" y="233172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/>
        </p:spPr>
      </p:sp>
      <p:sp>
        <p:nvSpPr>
          <p:cNvPr id="8" name="Text 5"/>
          <p:cNvSpPr/>
          <p:nvPr/>
        </p:nvSpPr>
        <p:spPr>
          <a:xfrm>
            <a:off x="7479792" y="233172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in MySQL matched source CSV/Excel files exactly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7315200" y="3355848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/>
        </p:spPr>
      </p:sp>
      <p:sp>
        <p:nvSpPr>
          <p:cNvPr id="10" name="Text 7"/>
          <p:cNvSpPr/>
          <p:nvPr/>
        </p:nvSpPr>
        <p:spPr>
          <a:xfrm>
            <a:off x="7479792" y="3355848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spot-checks joined transactions to customer &amp; bank details correctly</a:t>
            </a:r>
            <a:endParaRPr lang="en-US" sz="1030" dirty="0"/>
          </a:p>
        </p:txBody>
      </p:sp>
      <p:sp>
        <p:nvSpPr>
          <p:cNvPr id="11" name="Shape 8"/>
          <p:cNvSpPr/>
          <p:nvPr/>
        </p:nvSpPr>
        <p:spPr>
          <a:xfrm>
            <a:off x="7315200" y="4379976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7479792" y="437997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orphaned foreign keys across Device, UPI Account, Merchant &amp; Customer links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7315200" y="5404104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7479792" y="5404104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 blank resolution_time values in Fraud_Alert_History corrected to proper TIMESTAMP type</a:t>
            </a:r>
            <a:endParaRPr lang="en-US" sz="103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CONNECTING PYTHON TO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 Live Analysis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40764" y="21945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54076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068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Libraries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2811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sqlalchemy · pymysql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280263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3979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89604" y="21945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68960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04952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Engine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7695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connection string to MySQL (mysql+pymysql)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95147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863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8444" y="21945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83844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9836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with Pandas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2579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pandas.read_sql_query() executes SQL directly into dataframes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710031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23747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87284" y="21945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98728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4720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All 7 Tables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7463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pulled into its own dataframe for analysis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9249156" y="3108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86316" y="196596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36124" y="21945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10136124" y="2194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496044" y="2880360"/>
            <a:ext cx="1792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Schema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523476" y="34290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confirms dtypes &amp; row counts match SQL exactly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731520" y="5257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MySQL connection successful — all seven tables loaded with row counts and schema verified to match the source database exactly.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DATA CLEANING, TRANSFORMATION &amp; DERIVED KPIS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Fields Into Analysis-Ready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TREATMENT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9222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Merchant_ID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“P2P_No_Merchant” (peer-to-peer transfer, not a merchant payment)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5511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Failure_Reason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13232" y="28163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“None_successful” for completed transactions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562356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3101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numeric fields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357530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with column median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548640" y="41239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425696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Risk_Score → Min-Max Normalized  ·  Amount → Z-score Standardized (outlier-prone, unbounded)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137160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KPIs CREATED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173736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181051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/ Customer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12140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÷ Number of Transactions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92240" y="2624328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6974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Fraud Ratio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008376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 ÷ Total Transactions by Merchant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3511296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5844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Fraud Ratio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895344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Transactions ÷ Total Transactions by Device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4398264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DF1F1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44714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Failure 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478231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Transactions ÷ Total Transactions  =  5.87%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Transaction Data Reveals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492240" cy="4160520"/>
          </a:xfrm>
          <a:prstGeom prst="roundRect">
            <a:avLst>
              <a:gd name="adj" fmla="val 1319"/>
            </a:avLst>
          </a:prstGeom>
          <a:solidFill>
            <a:srgbClr val="F3F6FA"/>
          </a:solidFill>
          <a:ln/>
        </p:spPr>
      </p:sp>
      <p:pic>
        <p:nvPicPr>
          <p:cNvPr id="5" name="Image 0" descr="/home/claude/assets/monthly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36192"/>
            <a:ext cx="621792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4434840"/>
            <a:ext cx="6126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 volume climbed sharply through mid-2025 while fraud volume stayed comparatively flat — fraud is growing slower than legitimate usage.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7269480" y="1417320"/>
            <a:ext cx="4343400" cy="4160520"/>
          </a:xfrm>
          <a:prstGeom prst="roundRect">
            <a:avLst>
              <a:gd name="adj" fmla="val 1319"/>
            </a:avLst>
          </a:prstGeom>
          <a:solidFill>
            <a:srgbClr val="F3F6FA"/>
          </a:solidFill>
          <a:ln/>
        </p:spPr>
      </p:sp>
      <p:pic>
        <p:nvPicPr>
          <p:cNvPr id="8" name="Image 1" descr="/home/claude/assets/fraud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36192"/>
            <a:ext cx="416052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4800600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+ Electronics is the riskiest cell (3.01% fraud rate) — nearly 2× the platform average.</a:t>
            </a:r>
            <a:endParaRPr lang="en-US" sz="103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STATISTICAL ANALYSIS IN PYTHON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Hypotheses Against Real Data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4846320"/>
                <a:gridCol w="1737360"/>
                <a:gridCol w="1188720"/>
                <a:gridCol w="1920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Asked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avg. amount differ between fraud &amp; non-fraud transactions?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= 0.0841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avg. amount differ across merchant types?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= 0.9392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Chi-Square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fraud associated with device type?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= 5.6743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 to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risk score relate to fraud occurrence?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= -0.0016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significant 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118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none of the four tests found a statistically significant relationship at the whole-dataset level — fraud risk in this data is better explained by combinations of factors (region × merchant × device) than any single variable alone, reinforcing the case for multivariate monitoring rather than single-field rules.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5262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LIMITATIONS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89204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4892040"/>
            <a:ext cx="5111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 used — equal variance between groups was not assumed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6126480" y="489204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/>
        </p:spPr>
      </p:sp>
      <p:sp>
        <p:nvSpPr>
          <p:cNvPr id="10" name="Text 7"/>
          <p:cNvSpPr/>
          <p:nvPr/>
        </p:nvSpPr>
        <p:spPr>
          <a:xfrm>
            <a:off x="6291072" y="4892040"/>
            <a:ext cx="5111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Bonferroni / FDR correction applied across the four tests, raising false-positive risk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548640" y="5669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5669280"/>
            <a:ext cx="5111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cases are rare relative to normal transactions (class imbalance) — this reduces statistical power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6126480" y="56692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3F6FA"/>
          </a:solidFill>
          <a:ln/>
        </p:spPr>
      </p:sp>
      <p:sp>
        <p:nvSpPr>
          <p:cNvPr id="14" name="Text 11"/>
          <p:cNvSpPr/>
          <p:nvPr/>
        </p:nvSpPr>
        <p:spPr>
          <a:xfrm>
            <a:off x="6291072" y="5669280"/>
            <a:ext cx="51114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reflects association only, not causation, and results are specific to this dataset's time window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POWER BI DASHBOARD SUITE  ·  PAGE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Dashboard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 — connected to the full 7-table data model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99743" y="1508760"/>
            <a:ext cx="7589465" cy="4837176"/>
          </a:xfrm>
          <a:prstGeom prst="roundRect">
            <a:avLst>
              <a:gd name="adj" fmla="val 945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pic>
        <p:nvPicPr>
          <p:cNvPr id="6" name="Image 0" descr="/home/claude/assets/dashboard_execu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3751" y="1572768"/>
            <a:ext cx="7461449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POWER BI DASHBOARD SUITE  ·  PAGE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/ Fraud Analyst Dashboard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fraud alert trends, root causes, and high-risk device / merchant views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47652" y="1508760"/>
            <a:ext cx="7093649" cy="4837176"/>
          </a:xfrm>
          <a:prstGeom prst="roundRect">
            <a:avLst>
              <a:gd name="adj" fmla="val 945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pic>
        <p:nvPicPr>
          <p:cNvPr id="6" name="Image 0" descr="/home/claude/assets/dashboard_fraud_analy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1660" y="1572768"/>
            <a:ext cx="6965633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POWER BI DASHBOARD SUITE  ·  PAGE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Details — Drill-through Record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fraud alert investigation — customer, merchant, transaction &amp; resolution time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35524" y="1600200"/>
            <a:ext cx="6717905" cy="4700016"/>
          </a:xfrm>
          <a:prstGeom prst="roundRect">
            <a:avLst>
              <a:gd name="adj" fmla="val 973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pic>
        <p:nvPicPr>
          <p:cNvPr id="6" name="Image 0" descr="/home/claude/assets/dashboard_alert_detai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9532" y="1664208"/>
            <a:ext cx="6589889" cy="457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· STRATEGIC INSIGHTS &amp; 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DATA-DRIVEN INSIGHTS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01952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01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48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region × Electronics merchants is the single riskiest segment — 3.01% fraud rate, ~2× the platform average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798064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980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48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transaction failure rate sits at 5.87%, a direct lever for customer trust and retention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3529584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694176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48" dirty="0"/>
          </a:p>
        </p:txBody>
      </p:sp>
      <p:sp>
        <p:nvSpPr>
          <p:cNvPr id="16" name="Text 14"/>
          <p:cNvSpPr/>
          <p:nvPr/>
        </p:nvSpPr>
        <p:spPr>
          <a:xfrm>
            <a:off x="1280160" y="3529584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is scaling rapidly (18× growth from baseline months) while fraud volume grows far more slowly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548640" y="4425696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590288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590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48" dirty="0"/>
          </a:p>
        </p:txBody>
      </p:sp>
      <p:sp>
        <p:nvSpPr>
          <p:cNvPr id="20" name="Text 18"/>
          <p:cNvSpPr/>
          <p:nvPr/>
        </p:nvSpPr>
        <p:spPr>
          <a:xfrm>
            <a:off x="1280160" y="4425696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four statistical tests found a single dominant fraud driver — risk is multivariate, not rule-based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48640" y="5321808"/>
            <a:ext cx="5623560" cy="77724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5486400"/>
            <a:ext cx="438912" cy="438912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486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48" dirty="0"/>
          </a:p>
        </p:txBody>
      </p:sp>
      <p:sp>
        <p:nvSpPr>
          <p:cNvPr id="24" name="Text 22"/>
          <p:cNvSpPr/>
          <p:nvPr/>
        </p:nvSpPr>
        <p:spPr>
          <a:xfrm>
            <a:off x="1280160" y="5321808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9.69% of customer records carry invalid mobile numbers — a data-quality gap with compliance implications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6446520" y="1371600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46520" y="17373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DF1F1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18470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device security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29400" y="2194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step-up authentication / rooted-device checks in West + Electronics to cut the highest-risk segment's exposure.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6446520" y="31089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DF1F1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32186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onboarding review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29400" y="35661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Re-screen high fraud-ratio merchants; tighten risk-scoring at onboarding to reduce future fraud inflow.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6446520" y="44805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FDF1F1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459028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education &amp; data hygiene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29400" y="49377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9.69% invalid mobile-number records and run a failure-reason education push to lift the 5.87% failure rate.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Capstone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023360" cy="402336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3291840" cy="3291840"/>
          </a:xfrm>
          <a:prstGeom prst="ellipse">
            <a:avLst/>
          </a:prstGeom>
          <a:solidFill>
            <a:srgbClr val="1331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Analytics — a full-stack view from raw data to boardroom insight.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41148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24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quality log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56432" y="41148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4224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93592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ingestion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35624" y="41148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4224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72784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statistical testing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814816" y="4114800"/>
            <a:ext cx="2514600" cy="1051560"/>
          </a:xfrm>
          <a:prstGeom prst="roundRect">
            <a:avLst>
              <a:gd name="adj" fmla="val 6087"/>
            </a:avLst>
          </a:prstGeom>
          <a:solidFill>
            <a:srgbClr val="13315C"/>
          </a:solidFill>
          <a:ln w="9525">
            <a:solidFill>
              <a:srgbClr val="3A6E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51976" y="422452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51976" y="46177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Aastha Maurya  ·  Data Analytics with GenAI — Capstone Project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2026-09-08T19:39:21Z</dcterms:created>
  <dcterms:modified xsi:type="dcterms:W3CDTF">2026-09-08T19:39:21Z</dcterms:modified>
</cp:coreProperties>
</file>